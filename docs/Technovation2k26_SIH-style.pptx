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a0ae99c0-c725-f049-398b-5e932b68ab41}">
          <p14:sldIdLst>
            <p14:sldId id="256"/>
          </p14:sldIdLst>
        </p14:section>
        <p14:section name="Problem and solution" id="{da9efb09-7e96-e31c-5534-301dc9c511ad}">
          <p14:sldIdLst>
            <p14:sldId id="257"/>
          </p14:sldIdLst>
        </p14:section>
        <p14:section name="Design" id="{108402ea-eb82-523a-8230-970316e1c12d}">
          <p14:sldIdLst>
            <p14:sldId id="258"/>
          </p14:sldIdLst>
        </p14:section>
        <p14:section name="Status" id="{9f56c395-b43b-4707-b85a-dad3223f62d2}">
          <p14:sldIdLst>
            <p14:sldId id="259"/>
            <p14:sldId id="260"/>
          </p14:sldIdLst>
        </p14:section>
        <p14:section name="References" id="{752b5c94-762f-6fb8-5bf3-28570d6b7c0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page. Project: Safe Charging Chip for Mobile Phones. Team LogicNova at Technovation 2k26.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charging faults (bad adapter, damaged cable, heat) can lead to thermal runaway, and protection is usually one internal circuit. Solution: an independent safety layer between charger and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blocks left to right, then the five-step flow. Be clear that the ESP32 stage is built and tested with potentiometers; FPGA integration is the next stage. Do not quote a measured cut-off time unless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low-cost parts and bench-safe testing. Real-world issues: sensor failure and link or power loss. Safeguards: NO relay, limit and trend checks. Watchdog and latch are planned, not yet implemented. All testing is low-voltage DC on a dummy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on phone users, charger makers and operators, and homes and public spaces. Benefits: independent safety, fuller detection, and a design path toward a compact chip. Avoid quoting numbers you have not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are component documentation and your own project documents. Add any battery-safety papers or standards you want to cite once you have confirmed the exact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82880"/>
            <a:ext cx="132588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0" y="201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TECHNOVATION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2K26</a:t>
            </a:r>
            <a:endParaRPr lang="en-US" sz="16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325880" cy="640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194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LogicNova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TEAM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137160"/>
            <a:ext cx="548640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1828800" y="137160"/>
            <a:ext cx="5486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498080" y="182880"/>
            <a:ext cx="132588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201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TECHNOVATION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0" y="4572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2K26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8371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7777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SENSE. DECIDE. PROTECT.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4846320"/>
            <a:ext cx="18288" cy="228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Text 10"/>
          <p:cNvSpPr/>
          <p:nvPr/>
        </p:nvSpPr>
        <p:spPr>
          <a:xfrm>
            <a:off x="4892040" y="47777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Battery Safety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4846320"/>
            <a:ext cx="18288" cy="228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6" name="Text 12"/>
          <p:cNvSpPr/>
          <p:nvPr/>
        </p:nvSpPr>
        <p:spPr>
          <a:xfrm>
            <a:off x="6537960" y="47777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Technovation 2k26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7740"/>
            <a:ext cx="4114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7740"/>
            <a:ext cx="4114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TECHNOVATION 2K26</a:t>
            </a:r>
            <a:endParaRPr lang="en-US" sz="3200" dirty="0"/>
          </a:p>
        </p:txBody>
      </p:sp>
      <p:sp>
        <p:nvSpPr>
          <p:cNvPr id="3" name="Title page label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400" dirty="0"/>
          </a:p>
        </p:txBody>
      </p:sp>
      <p:sp>
        <p:nvSpPr>
          <p:cNvPr id="4" name="Title page fields"/>
          <p:cNvSpPr txBox="1"/>
          <p:nvPr/>
        </p:nvSpPr>
        <p:spPr>
          <a:xfrm>
            <a:off x="457200" y="1828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Project Title -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Safe Charging Chip for Mobile Phones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Theme -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Battery and Charging Safety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Category -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Hardware (Embedded + FPGA)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Team Name -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LogicNova</a:t>
            </a:r>
            <a:endParaRPr lang="en-US" sz="1800" dirty="0"/>
          </a:p>
        </p:txBody>
      </p:sp>
      <p:sp>
        <p:nvSpPr>
          <p:cNvPr id="5" name="Hexagon backdrop"/>
          <p:cNvSpPr/>
          <p:nvPr/>
        </p:nvSpPr>
        <p:spPr>
          <a:xfrm>
            <a:off x="5486400" y="1097280"/>
            <a:ext cx="3200400" cy="3383280"/>
          </a:xfrm>
          <a:prstGeom prst="hexagon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ield circle"/>
          <p:cNvSpPr/>
          <p:nvPr/>
        </p:nvSpPr>
        <p:spPr>
          <a:xfrm>
            <a:off x="6355080" y="219456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Shield icon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560320"/>
            <a:ext cx="731520" cy="731520"/>
          </a:xfrm>
          <a:prstGeom prst="rect">
            <a:avLst/>
          </a:prstGeom>
        </p:spPr>
      </p:pic>
      <p:sp>
        <p:nvSpPr>
          <p:cNvPr id="8" name="Voltage circle"/>
          <p:cNvSpPr/>
          <p:nvPr/>
        </p:nvSpPr>
        <p:spPr>
          <a:xfrm>
            <a:off x="6035040" y="141732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Voltage icon" descr="Volt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30" y="1565910"/>
            <a:ext cx="297180" cy="297180"/>
          </a:xfrm>
          <a:prstGeom prst="rect">
            <a:avLst/>
          </a:prstGeom>
        </p:spPr>
      </p:pic>
      <p:sp>
        <p:nvSpPr>
          <p:cNvPr id="10" name="Current circle"/>
          <p:cNvSpPr/>
          <p:nvPr/>
        </p:nvSpPr>
        <p:spPr>
          <a:xfrm>
            <a:off x="7818120" y="182880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Current icon" descr="Curr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710" y="1977390"/>
            <a:ext cx="297180" cy="297180"/>
          </a:xfrm>
          <a:prstGeom prst="rect">
            <a:avLst/>
          </a:prstGeom>
        </p:spPr>
      </p:pic>
      <p:sp>
        <p:nvSpPr>
          <p:cNvPr id="12" name="Temperature circle"/>
          <p:cNvSpPr/>
          <p:nvPr/>
        </p:nvSpPr>
        <p:spPr>
          <a:xfrm>
            <a:off x="6858000" y="3840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Temperature icon" descr="Temperat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3989070"/>
            <a:ext cx="29718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828800" y="137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SAFE CHARGING CHIP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An independent hardware safety layer for phone charging</a:t>
            </a:r>
            <a:endParaRPr lang="en-US" sz="2400" dirty="0"/>
          </a:p>
        </p:txBody>
      </p:sp>
      <p:sp>
        <p:nvSpPr>
          <p:cNvPr id="3" name="From card"/>
          <p:cNvSpPr/>
          <p:nvPr/>
        </p:nvSpPr>
        <p:spPr>
          <a:xfrm>
            <a:off x="320040" y="1051560"/>
            <a:ext cx="3611880" cy="1600200"/>
          </a:xfrm>
          <a:prstGeom prst="roundRect">
            <a:avLst>
              <a:gd name="adj" fmla="val 45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From label"/>
          <p:cNvSpPr txBox="1"/>
          <p:nvPr/>
        </p:nvSpPr>
        <p:spPr>
          <a:xfrm>
            <a:off x="502920" y="1115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FROM: UNPROTECTED CHARGING</a:t>
            </a:r>
            <a:endParaRPr lang="en-US" sz="1200" dirty="0"/>
          </a:p>
        </p:txBody>
      </p:sp>
      <p:pic>
        <p:nvPicPr>
          <p:cNvPr id="5" name="From icon 0" descr="cr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6192"/>
            <a:ext cx="201168" cy="201168"/>
          </a:xfrm>
          <a:prstGeom prst="rect">
            <a:avLst/>
          </a:prstGeom>
        </p:spPr>
      </p:pic>
      <p:sp>
        <p:nvSpPr>
          <p:cNvPr id="6" name="From line 0"/>
          <p:cNvSpPr txBox="1"/>
          <p:nvPr/>
        </p:nvSpPr>
        <p:spPr>
          <a:xfrm>
            <a:off x="822960" y="1481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temperature awareness</a:t>
            </a:r>
            <a:endParaRPr lang="en-US" sz="1200" dirty="0"/>
          </a:p>
        </p:txBody>
      </p:sp>
      <p:pic>
        <p:nvPicPr>
          <p:cNvPr id="7" name="From icon 1" descr="cr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8" name="From line 1"/>
          <p:cNvSpPr txBox="1"/>
          <p:nvPr/>
        </p:nvSpPr>
        <p:spPr>
          <a:xfrm>
            <a:off x="822960" y="18196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protection layer inside the phone</a:t>
            </a:r>
            <a:endParaRPr lang="en-US" sz="1200" dirty="0"/>
          </a:p>
        </p:txBody>
      </p:sp>
      <p:pic>
        <p:nvPicPr>
          <p:cNvPr id="9" name="From icon 2" descr="cr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12848"/>
            <a:ext cx="201168" cy="201168"/>
          </a:xfrm>
          <a:prstGeom prst="rect">
            <a:avLst/>
          </a:prstGeom>
        </p:spPr>
      </p:pic>
      <p:sp>
        <p:nvSpPr>
          <p:cNvPr id="10" name="From line 2"/>
          <p:cNvSpPr txBox="1"/>
          <p:nvPr/>
        </p:nvSpPr>
        <p:spPr>
          <a:xfrm>
            <a:off x="822960" y="21579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user cannot verify it</a:t>
            </a:r>
            <a:endParaRPr lang="en-US" sz="1200" dirty="0"/>
          </a:p>
        </p:txBody>
      </p:sp>
      <p:sp>
        <p:nvSpPr>
          <p:cNvPr id="11" name="From to arrow"/>
          <p:cNvSpPr/>
          <p:nvPr/>
        </p:nvSpPr>
        <p:spPr>
          <a:xfrm>
            <a:off x="1920240" y="2697480"/>
            <a:ext cx="320040" cy="365760"/>
          </a:xfrm>
          <a:prstGeom prst="down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o card"/>
          <p:cNvSpPr/>
          <p:nvPr/>
        </p:nvSpPr>
        <p:spPr>
          <a:xfrm>
            <a:off x="320040" y="3108960"/>
            <a:ext cx="3611880" cy="1554480"/>
          </a:xfrm>
          <a:prstGeom prst="roundRect">
            <a:avLst>
              <a:gd name="adj" fmla="val 470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o label"/>
          <p:cNvSpPr txBox="1"/>
          <p:nvPr/>
        </p:nvSpPr>
        <p:spPr>
          <a:xfrm>
            <a:off x="502920" y="3172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TO: PROTECTED CHARGING</a:t>
            </a:r>
            <a:endParaRPr lang="en-US" sz="1200" dirty="0"/>
          </a:p>
        </p:txBody>
      </p:sp>
      <p:pic>
        <p:nvPicPr>
          <p:cNvPr id="14" name="To icon 0" descr="ti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93592"/>
            <a:ext cx="201168" cy="201168"/>
          </a:xfrm>
          <a:prstGeom prst="rect">
            <a:avLst/>
          </a:prstGeom>
        </p:spPr>
      </p:pic>
      <p:sp>
        <p:nvSpPr>
          <p:cNvPr id="15" name="To line 0"/>
          <p:cNvSpPr txBox="1"/>
          <p:nvPr/>
        </p:nvSpPr>
        <p:spPr>
          <a:xfrm>
            <a:off x="822960" y="35387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Voltage, current, heat watched together</a:t>
            </a:r>
            <a:endParaRPr lang="en-US" sz="1200" dirty="0"/>
          </a:p>
        </p:txBody>
      </p:sp>
      <p:pic>
        <p:nvPicPr>
          <p:cNvPr id="16" name="To icon 1" descr="ti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31920"/>
            <a:ext cx="201168" cy="201168"/>
          </a:xfrm>
          <a:prstGeom prst="rect">
            <a:avLst/>
          </a:prstGeom>
        </p:spPr>
      </p:pic>
      <p:sp>
        <p:nvSpPr>
          <p:cNvPr id="17" name="To line 1"/>
          <p:cNvSpPr txBox="1"/>
          <p:nvPr/>
        </p:nvSpPr>
        <p:spPr>
          <a:xfrm>
            <a:off x="822960" y="3877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Relay cuts the charging path on a fault</a:t>
            </a:r>
            <a:endParaRPr lang="en-US" sz="1200" dirty="0"/>
          </a:p>
        </p:txBody>
      </p:sp>
      <p:pic>
        <p:nvPicPr>
          <p:cNvPr id="18" name="To icon 2" descr="ti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70248"/>
            <a:ext cx="201168" cy="201168"/>
          </a:xfrm>
          <a:prstGeom prst="rect">
            <a:avLst/>
          </a:prstGeom>
        </p:spPr>
      </p:pic>
      <p:sp>
        <p:nvSpPr>
          <p:cNvPr id="19" name="To line 2"/>
          <p:cNvSpPr txBox="1"/>
          <p:nvPr/>
        </p:nvSpPr>
        <p:spPr>
          <a:xfrm>
            <a:off x="822960" y="42153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LED, buzzer and LCD show the state</a:t>
            </a:r>
            <a:endParaRPr lang="en-US" sz="1200" dirty="0"/>
          </a:p>
        </p:txBody>
      </p:sp>
      <p:sp>
        <p:nvSpPr>
          <p:cNvPr id="20" name="Why heading"/>
          <p:cNvSpPr txBox="1"/>
          <p:nvPr/>
        </p:nvSpPr>
        <p:spPr>
          <a:xfrm>
            <a:off x="4206240" y="10241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SAFE CHARGING CHIP?</a:t>
            </a:r>
            <a:endParaRPr lang="en-US" sz="1800" dirty="0"/>
          </a:p>
        </p:txBody>
      </p:sp>
      <p:sp>
        <p:nvSpPr>
          <p:cNvPr id="21" name="Why quote"/>
          <p:cNvSpPr txBox="1"/>
          <p:nvPr/>
        </p:nvSpPr>
        <p:spPr>
          <a:xfrm>
            <a:off x="4206240" y="144475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“When charging goes wrong, a battery can overheat and catch fire before anyone notices.”</a:t>
            </a:r>
            <a:endParaRPr lang="en-US" sz="1400" dirty="0"/>
          </a:p>
        </p:txBody>
      </p:sp>
      <p:sp>
        <p:nvSpPr>
          <p:cNvPr id="22" name="Problem circle"/>
          <p:cNvSpPr/>
          <p:nvPr/>
        </p:nvSpPr>
        <p:spPr>
          <a:xfrm>
            <a:off x="4206240" y="22860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Problem icon" descr="Proble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4830" y="2434590"/>
            <a:ext cx="297180" cy="297180"/>
          </a:xfrm>
          <a:prstGeom prst="rect">
            <a:avLst/>
          </a:prstGeom>
        </p:spPr>
      </p:pic>
      <p:sp>
        <p:nvSpPr>
          <p:cNvPr id="24" name="Problem text"/>
          <p:cNvSpPr txBox="1"/>
          <p:nvPr/>
        </p:nvSpPr>
        <p:spPr>
          <a:xfrm>
            <a:off x="4937760" y="21945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THE PROBLEM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faulty adapter, damaged cable or hot spot can push a lithium-ion cell toward thermal runaway, and phones rely on a single internal protection circuit.</a:t>
            </a:r>
            <a:endParaRPr lang="en-US" sz="1300" dirty="0"/>
          </a:p>
        </p:txBody>
      </p:sp>
      <p:sp>
        <p:nvSpPr>
          <p:cNvPr id="25" name="Divider"/>
          <p:cNvSpPr/>
          <p:nvPr/>
        </p:nvSpPr>
        <p:spPr>
          <a:xfrm>
            <a:off x="4206240" y="3383280"/>
            <a:ext cx="46177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6" name="Solution circle"/>
          <p:cNvSpPr/>
          <p:nvPr/>
        </p:nvSpPr>
        <p:spPr>
          <a:xfrm>
            <a:off x="4206240" y="36118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Solution icon" descr="Soluti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4830" y="3760470"/>
            <a:ext cx="297180" cy="297180"/>
          </a:xfrm>
          <a:prstGeom prst="rect">
            <a:avLst/>
          </a:prstGeom>
        </p:spPr>
      </p:pic>
      <p:sp>
        <p:nvSpPr>
          <p:cNvPr id="28" name="Solution text"/>
          <p:cNvSpPr txBox="1"/>
          <p:nvPr/>
        </p:nvSpPr>
        <p:spPr>
          <a:xfrm>
            <a:off x="4937760" y="35204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OUR SOLUTION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Safe Charging Chip sits between charger and phone. An ESP32 senses voltage, current and temperature; a PYNQ-Z2 FPGA decides SAFE, WARNING or FAULT and opens the relay to cut charging.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7740"/>
            <a:ext cx="4114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828800" y="137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TECHNICAL APPROACH</a:t>
            </a:r>
            <a:endParaRPr lang="en-US" sz="2400" dirty="0"/>
          </a:p>
        </p:txBody>
      </p:sp>
      <p:sp>
        <p:nvSpPr>
          <p:cNvPr id="3" name="Flow card 01"/>
          <p:cNvSpPr/>
          <p:nvPr/>
        </p:nvSpPr>
        <p:spPr>
          <a:xfrm>
            <a:off x="320040" y="1005840"/>
            <a:ext cx="1371600" cy="1874520"/>
          </a:xfrm>
          <a:prstGeom prst="roundRect">
            <a:avLst>
              <a:gd name="adj" fmla="val 533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Flow number circle 01"/>
          <p:cNvSpPr/>
          <p:nvPr/>
        </p:nvSpPr>
        <p:spPr>
          <a:xfrm>
            <a:off x="795528" y="1097280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 number 01"/>
          <p:cNvSpPr txBox="1"/>
          <p:nvPr/>
        </p:nvSpPr>
        <p:spPr>
          <a:xfrm>
            <a:off x="795528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Flow title 01"/>
          <p:cNvSpPr txBox="1"/>
          <p:nvPr/>
        </p:nvSpPr>
        <p:spPr>
          <a:xfrm>
            <a:off x="393192" y="16002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SENSORS</a:t>
            </a:r>
            <a:endParaRPr lang="en-US" sz="1200" dirty="0"/>
          </a:p>
        </p:txBody>
      </p:sp>
      <p:sp>
        <p:nvSpPr>
          <p:cNvPr id="7" name="Flow detail 01"/>
          <p:cNvSpPr txBox="1"/>
          <p:nvPr/>
        </p:nvSpPr>
        <p:spPr>
          <a:xfrm>
            <a:off x="41148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Voltage module, ACS712-5A current sensor, DS18B20</a:t>
            </a:r>
            <a:endParaRPr lang="en-US" sz="1100" dirty="0"/>
          </a:p>
        </p:txBody>
      </p:sp>
      <p:sp>
        <p:nvSpPr>
          <p:cNvPr id="8" name="Flow arrow 1"/>
          <p:cNvSpPr/>
          <p:nvPr/>
        </p:nvSpPr>
        <p:spPr>
          <a:xfrm>
            <a:off x="1700784" y="1828800"/>
            <a:ext cx="118872" cy="20116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low card 02"/>
          <p:cNvSpPr/>
          <p:nvPr/>
        </p:nvSpPr>
        <p:spPr>
          <a:xfrm>
            <a:off x="1828800" y="1005840"/>
            <a:ext cx="1371600" cy="1874520"/>
          </a:xfrm>
          <a:prstGeom prst="roundRect">
            <a:avLst>
              <a:gd name="adj" fmla="val 5333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ow number circle 02"/>
          <p:cNvSpPr/>
          <p:nvPr/>
        </p:nvSpPr>
        <p:spPr>
          <a:xfrm>
            <a:off x="2304288" y="10972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Flow number 02"/>
          <p:cNvSpPr txBox="1"/>
          <p:nvPr/>
        </p:nvSpPr>
        <p:spPr>
          <a:xfrm>
            <a:off x="2304288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Flow title 02"/>
          <p:cNvSpPr txBox="1"/>
          <p:nvPr/>
        </p:nvSpPr>
        <p:spPr>
          <a:xfrm>
            <a:off x="1901952" y="16002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ESP32 EDGE NODE</a:t>
            </a:r>
            <a:endParaRPr lang="en-US" sz="1200" dirty="0"/>
          </a:p>
        </p:txBody>
      </p:sp>
      <p:sp>
        <p:nvSpPr>
          <p:cNvPr id="13" name="Flow detail 02"/>
          <p:cNvSpPr txBox="1"/>
          <p:nvPr/>
        </p:nvSpPr>
        <p:spPr>
          <a:xfrm>
            <a:off x="192024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12-bit ADC sampling, LCD display, UART frame out</a:t>
            </a:r>
            <a:endParaRPr lang="en-US" sz="1100" dirty="0"/>
          </a:p>
        </p:txBody>
      </p:sp>
      <p:sp>
        <p:nvSpPr>
          <p:cNvPr id="14" name="Flow arrow 2"/>
          <p:cNvSpPr/>
          <p:nvPr/>
        </p:nvSpPr>
        <p:spPr>
          <a:xfrm>
            <a:off x="3209544" y="1828800"/>
            <a:ext cx="118872" cy="20116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Flow card 03"/>
          <p:cNvSpPr/>
          <p:nvPr/>
        </p:nvSpPr>
        <p:spPr>
          <a:xfrm>
            <a:off x="3337560" y="1005840"/>
            <a:ext cx="1371600" cy="1874520"/>
          </a:xfrm>
          <a:prstGeom prst="roundRect">
            <a:avLst>
              <a:gd name="adj" fmla="val 533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Flow number circle 03"/>
          <p:cNvSpPr/>
          <p:nvPr/>
        </p:nvSpPr>
        <p:spPr>
          <a:xfrm>
            <a:off x="3813048" y="109728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Flow number 03"/>
          <p:cNvSpPr txBox="1"/>
          <p:nvPr/>
        </p:nvSpPr>
        <p:spPr>
          <a:xfrm>
            <a:off x="3813048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Flow title 03"/>
          <p:cNvSpPr txBox="1"/>
          <p:nvPr/>
        </p:nvSpPr>
        <p:spPr>
          <a:xfrm>
            <a:off x="3410712" y="16002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FPGA SAFETY ENGINE</a:t>
            </a:r>
            <a:endParaRPr lang="en-US" sz="1200" dirty="0"/>
          </a:p>
        </p:txBody>
      </p:sp>
      <p:sp>
        <p:nvSpPr>
          <p:cNvPr id="19" name="Flow detail 03"/>
          <p:cNvSpPr txBox="1"/>
          <p:nvPr/>
        </p:nvSpPr>
        <p:spPr>
          <a:xfrm>
            <a:off x="342900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PYNQ-Z2 parses data and runs the safety FSM</a:t>
            </a:r>
            <a:endParaRPr lang="en-US" sz="1100" dirty="0"/>
          </a:p>
        </p:txBody>
      </p:sp>
      <p:sp>
        <p:nvSpPr>
          <p:cNvPr id="20" name="Flow arrow 3"/>
          <p:cNvSpPr/>
          <p:nvPr/>
        </p:nvSpPr>
        <p:spPr>
          <a:xfrm>
            <a:off x="4718304" y="1828800"/>
            <a:ext cx="118872" cy="20116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Flow card 04"/>
          <p:cNvSpPr/>
          <p:nvPr/>
        </p:nvSpPr>
        <p:spPr>
          <a:xfrm>
            <a:off x="4846320" y="1005840"/>
            <a:ext cx="1371600" cy="1874520"/>
          </a:xfrm>
          <a:prstGeom prst="roundRect">
            <a:avLst>
              <a:gd name="adj" fmla="val 533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Flow number circle 04"/>
          <p:cNvSpPr/>
          <p:nvPr/>
        </p:nvSpPr>
        <p:spPr>
          <a:xfrm>
            <a:off x="5321808" y="109728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Flow number 04"/>
          <p:cNvSpPr txBox="1"/>
          <p:nvPr/>
        </p:nvSpPr>
        <p:spPr>
          <a:xfrm>
            <a:off x="5321808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Flow title 04"/>
          <p:cNvSpPr txBox="1"/>
          <p:nvPr/>
        </p:nvSpPr>
        <p:spPr>
          <a:xfrm>
            <a:off x="4919472" y="16002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PROTECTION OUTPUT</a:t>
            </a:r>
            <a:endParaRPr lang="en-US" sz="1200" dirty="0"/>
          </a:p>
        </p:txBody>
      </p:sp>
      <p:sp>
        <p:nvSpPr>
          <p:cNvPr id="25" name="Flow detail 04"/>
          <p:cNvSpPr txBox="1"/>
          <p:nvPr/>
        </p:nvSpPr>
        <p:spPr>
          <a:xfrm>
            <a:off x="493776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Relay cut-off, status LEDs and buzzer</a:t>
            </a:r>
            <a:endParaRPr lang="en-US" sz="1100" dirty="0"/>
          </a:p>
        </p:txBody>
      </p:sp>
      <p:sp>
        <p:nvSpPr>
          <p:cNvPr id="26" name="Flow pill"/>
          <p:cNvSpPr/>
          <p:nvPr/>
        </p:nvSpPr>
        <p:spPr>
          <a:xfrm>
            <a:off x="1828800" y="2971800"/>
            <a:ext cx="2880360" cy="274320"/>
          </a:xfrm>
          <a:prstGeom prst="roundRect">
            <a:avLst>
              <a:gd name="adj" fmla="val 2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Flow pill text"/>
          <p:cNvSpPr txBox="1"/>
          <p:nvPr/>
        </p:nvSpPr>
        <p:spPr>
          <a:xfrm>
            <a:off x="1828800" y="2971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IMPLEMENTATION FLOW</a:t>
            </a:r>
            <a:endParaRPr lang="en-US" sz="1200" dirty="0"/>
          </a:p>
        </p:txBody>
      </p:sp>
      <p:sp>
        <p:nvSpPr>
          <p:cNvPr id="28" name="Timeline line"/>
          <p:cNvSpPr/>
          <p:nvPr/>
        </p:nvSpPr>
        <p:spPr>
          <a:xfrm>
            <a:off x="640080" y="3474720"/>
            <a:ext cx="52120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9" name="Impl dot 1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0" name="Impl number 1"/>
          <p:cNvSpPr txBox="1"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01</a:t>
            </a:r>
            <a:endParaRPr lang="en-US" sz="1100" dirty="0"/>
          </a:p>
        </p:txBody>
      </p:sp>
      <p:sp>
        <p:nvSpPr>
          <p:cNvPr id="31" name="Impl title 1"/>
          <p:cNvSpPr txBox="1"/>
          <p:nvPr/>
        </p:nvSpPr>
        <p:spPr>
          <a:xfrm>
            <a:off x="320040" y="3730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SENSE</a:t>
            </a:r>
            <a:endParaRPr lang="en-US" sz="1200" dirty="0"/>
          </a:p>
        </p:txBody>
      </p:sp>
      <p:sp>
        <p:nvSpPr>
          <p:cNvPr id="32" name="Impl detail 1"/>
          <p:cNvSpPr txBox="1"/>
          <p:nvPr/>
        </p:nvSpPr>
        <p:spPr>
          <a:xfrm>
            <a:off x="356616" y="4005072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Measure voltage, current and temperature</a:t>
            </a:r>
            <a:endParaRPr lang="en-US" sz="1100" dirty="0"/>
          </a:p>
        </p:txBody>
      </p:sp>
      <p:sp>
        <p:nvSpPr>
          <p:cNvPr id="33" name="Impl dot 2"/>
          <p:cNvSpPr/>
          <p:nvPr/>
        </p:nvSpPr>
        <p:spPr>
          <a:xfrm>
            <a:off x="1911096" y="3291840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4" name="Impl number 2"/>
          <p:cNvSpPr txBox="1"/>
          <p:nvPr/>
        </p:nvSpPr>
        <p:spPr>
          <a:xfrm>
            <a:off x="191109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02</a:t>
            </a:r>
            <a:endParaRPr lang="en-US" sz="1100" dirty="0"/>
          </a:p>
        </p:txBody>
      </p:sp>
      <p:sp>
        <p:nvSpPr>
          <p:cNvPr id="35" name="Impl title 2"/>
          <p:cNvSpPr txBox="1"/>
          <p:nvPr/>
        </p:nvSpPr>
        <p:spPr>
          <a:xfrm>
            <a:off x="1499616" y="3730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SEND</a:t>
            </a:r>
            <a:endParaRPr lang="en-US" sz="1200" dirty="0"/>
          </a:p>
        </p:txBody>
      </p:sp>
      <p:sp>
        <p:nvSpPr>
          <p:cNvPr id="36" name="Impl detail 2"/>
          <p:cNvSpPr txBox="1"/>
          <p:nvPr/>
        </p:nvSpPr>
        <p:spPr>
          <a:xfrm>
            <a:off x="1536192" y="4005072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ESP32 streams readings over UART</a:t>
            </a:r>
            <a:endParaRPr lang="en-US" sz="1100" dirty="0"/>
          </a:p>
        </p:txBody>
      </p:sp>
      <p:sp>
        <p:nvSpPr>
          <p:cNvPr id="37" name="Impl dot 3"/>
          <p:cNvSpPr/>
          <p:nvPr/>
        </p:nvSpPr>
        <p:spPr>
          <a:xfrm>
            <a:off x="3090672" y="3291840"/>
            <a:ext cx="365760" cy="36576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8" name="Impl number 3"/>
          <p:cNvSpPr txBox="1"/>
          <p:nvPr/>
        </p:nvSpPr>
        <p:spPr>
          <a:xfrm>
            <a:off x="309067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03</a:t>
            </a:r>
            <a:endParaRPr lang="en-US" sz="1100" dirty="0"/>
          </a:p>
        </p:txBody>
      </p:sp>
      <p:sp>
        <p:nvSpPr>
          <p:cNvPr id="39" name="Impl title 3"/>
          <p:cNvSpPr txBox="1"/>
          <p:nvPr/>
        </p:nvSpPr>
        <p:spPr>
          <a:xfrm>
            <a:off x="2679192" y="3730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DECIDE</a:t>
            </a:r>
            <a:endParaRPr lang="en-US" sz="1200" dirty="0"/>
          </a:p>
        </p:txBody>
      </p:sp>
      <p:sp>
        <p:nvSpPr>
          <p:cNvPr id="40" name="Impl detail 3"/>
          <p:cNvSpPr txBox="1"/>
          <p:nvPr/>
        </p:nvSpPr>
        <p:spPr>
          <a:xfrm>
            <a:off x="2715768" y="4005072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FPGA picks SAFE, WARNING or FAULT</a:t>
            </a:r>
            <a:endParaRPr lang="en-US" sz="1100" dirty="0"/>
          </a:p>
        </p:txBody>
      </p:sp>
      <p:sp>
        <p:nvSpPr>
          <p:cNvPr id="41" name="Impl dot 4"/>
          <p:cNvSpPr/>
          <p:nvPr/>
        </p:nvSpPr>
        <p:spPr>
          <a:xfrm>
            <a:off x="4270248" y="3291840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2" name="Impl number 4"/>
          <p:cNvSpPr txBox="1"/>
          <p:nvPr/>
        </p:nvSpPr>
        <p:spPr>
          <a:xfrm>
            <a:off x="427024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04</a:t>
            </a:r>
            <a:endParaRPr lang="en-US" sz="1100" dirty="0"/>
          </a:p>
        </p:txBody>
      </p:sp>
      <p:sp>
        <p:nvSpPr>
          <p:cNvPr id="43" name="Impl title 4"/>
          <p:cNvSpPr txBox="1"/>
          <p:nvPr/>
        </p:nvSpPr>
        <p:spPr>
          <a:xfrm>
            <a:off x="3858768" y="3730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PROTECT</a:t>
            </a:r>
            <a:endParaRPr lang="en-US" sz="1200" dirty="0"/>
          </a:p>
        </p:txBody>
      </p:sp>
      <p:sp>
        <p:nvSpPr>
          <p:cNvPr id="44" name="Impl detail 4"/>
          <p:cNvSpPr txBox="1"/>
          <p:nvPr/>
        </p:nvSpPr>
        <p:spPr>
          <a:xfrm>
            <a:off x="3895344" y="4005072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Relay opens, red LED and buzzer on</a:t>
            </a:r>
            <a:endParaRPr lang="en-US" sz="1100" dirty="0"/>
          </a:p>
        </p:txBody>
      </p:sp>
      <p:sp>
        <p:nvSpPr>
          <p:cNvPr id="45" name="Impl dot 5"/>
          <p:cNvSpPr/>
          <p:nvPr/>
        </p:nvSpPr>
        <p:spPr>
          <a:xfrm>
            <a:off x="5449824" y="3291840"/>
            <a:ext cx="365760" cy="3657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6" name="Impl number 5"/>
          <p:cNvSpPr txBox="1"/>
          <p:nvPr/>
        </p:nvSpPr>
        <p:spPr>
          <a:xfrm>
            <a:off x="544982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05</a:t>
            </a:r>
            <a:endParaRPr lang="en-US" sz="1100" dirty="0"/>
          </a:p>
        </p:txBody>
      </p:sp>
      <p:sp>
        <p:nvSpPr>
          <p:cNvPr id="47" name="Impl title 5"/>
          <p:cNvSpPr txBox="1"/>
          <p:nvPr/>
        </p:nvSpPr>
        <p:spPr>
          <a:xfrm>
            <a:off x="5038344" y="3730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RECOVER</a:t>
            </a:r>
            <a:endParaRPr lang="en-US" sz="1200" dirty="0"/>
          </a:p>
        </p:txBody>
      </p:sp>
      <p:sp>
        <p:nvSpPr>
          <p:cNvPr id="48" name="Impl detail 5"/>
          <p:cNvSpPr txBox="1"/>
          <p:nvPr/>
        </p:nvSpPr>
        <p:spPr>
          <a:xfrm>
            <a:off x="5074920" y="4005072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Reset once readings are safe</a:t>
            </a:r>
            <a:endParaRPr lang="en-US" sz="1100" dirty="0"/>
          </a:p>
        </p:txBody>
      </p:sp>
      <p:sp>
        <p:nvSpPr>
          <p:cNvPr id="49" name="Tech stack panel"/>
          <p:cNvSpPr/>
          <p:nvPr/>
        </p:nvSpPr>
        <p:spPr>
          <a:xfrm>
            <a:off x="6400800" y="1005840"/>
            <a:ext cx="2423160" cy="365760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0" name="Tech stack header"/>
          <p:cNvSpPr/>
          <p:nvPr/>
        </p:nvSpPr>
        <p:spPr>
          <a:xfrm>
            <a:off x="6400800" y="1005840"/>
            <a:ext cx="2423160" cy="365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1" name="Tech stack title"/>
          <p:cNvSpPr txBox="1"/>
          <p:nvPr/>
        </p:nvSpPr>
        <p:spPr>
          <a:xfrm>
            <a:off x="6400800" y="1005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52" name="PROCESSING circle"/>
          <p:cNvSpPr/>
          <p:nvPr/>
        </p:nvSpPr>
        <p:spPr>
          <a:xfrm>
            <a:off x="6510528" y="151790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3" name="PROCESSING icon" descr="PROCES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6540" y="1613916"/>
            <a:ext cx="192024" cy="192024"/>
          </a:xfrm>
          <a:prstGeom prst="rect">
            <a:avLst/>
          </a:prstGeom>
        </p:spPr>
      </p:pic>
      <p:sp>
        <p:nvSpPr>
          <p:cNvPr id="54" name="Stack text 1"/>
          <p:cNvSpPr txBox="1"/>
          <p:nvPr/>
        </p:nvSpPr>
        <p:spPr>
          <a:xfrm>
            <a:off x="6995160" y="144475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PROCESSING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ESP32 and PYNQ-Z2 (Zynq-7000 FPGA)</a:t>
            </a:r>
            <a:endParaRPr lang="en-US" sz="1200" dirty="0"/>
          </a:p>
        </p:txBody>
      </p:sp>
      <p:sp>
        <p:nvSpPr>
          <p:cNvPr id="55" name="SENSING circle"/>
          <p:cNvSpPr/>
          <p:nvPr/>
        </p:nvSpPr>
        <p:spPr>
          <a:xfrm>
            <a:off x="6510528" y="21579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6" name="SENSING icon" descr="SEN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253996"/>
            <a:ext cx="192024" cy="192024"/>
          </a:xfrm>
          <a:prstGeom prst="rect">
            <a:avLst/>
          </a:prstGeom>
        </p:spPr>
      </p:pic>
      <p:sp>
        <p:nvSpPr>
          <p:cNvPr id="57" name="Stack text 2"/>
          <p:cNvSpPr txBox="1"/>
          <p:nvPr/>
        </p:nvSpPr>
        <p:spPr>
          <a:xfrm>
            <a:off x="6995160" y="208483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SENSING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ACS712-5A, DS18B20, 0-25 V voltage module</a:t>
            </a:r>
            <a:endParaRPr lang="en-US" sz="1200" dirty="0"/>
          </a:p>
        </p:txBody>
      </p:sp>
      <p:sp>
        <p:nvSpPr>
          <p:cNvPr id="58" name="COMMUNICATION circle"/>
          <p:cNvSpPr/>
          <p:nvPr/>
        </p:nvSpPr>
        <p:spPr>
          <a:xfrm>
            <a:off x="6510528" y="27980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9" name="COMMUNICATION icon" descr="COMMUN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894076"/>
            <a:ext cx="192024" cy="192024"/>
          </a:xfrm>
          <a:prstGeom prst="rect">
            <a:avLst/>
          </a:prstGeom>
        </p:spPr>
      </p:pic>
      <p:sp>
        <p:nvSpPr>
          <p:cNvPr id="60" name="Stack text 3"/>
          <p:cNvSpPr txBox="1"/>
          <p:nvPr/>
        </p:nvSpPr>
        <p:spPr>
          <a:xfrm>
            <a:off x="6995160" y="272491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COMMUNICATION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UART, 115200 baud, 8N1</a:t>
            </a:r>
            <a:endParaRPr lang="en-US" sz="1200" dirty="0"/>
          </a:p>
        </p:txBody>
      </p:sp>
      <p:sp>
        <p:nvSpPr>
          <p:cNvPr id="61" name="ACTUATION circle"/>
          <p:cNvSpPr/>
          <p:nvPr/>
        </p:nvSpPr>
        <p:spPr>
          <a:xfrm>
            <a:off x="6510528" y="343814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2" name="ACTUATION icon" descr="ACTU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3534156"/>
            <a:ext cx="192024" cy="192024"/>
          </a:xfrm>
          <a:prstGeom prst="rect">
            <a:avLst/>
          </a:prstGeom>
        </p:spPr>
      </p:pic>
      <p:sp>
        <p:nvSpPr>
          <p:cNvPr id="63" name="Stack text 4"/>
          <p:cNvSpPr txBox="1"/>
          <p:nvPr/>
        </p:nvSpPr>
        <p:spPr>
          <a:xfrm>
            <a:off x="6995160" y="336499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ACTUATION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V relay, 16x2 LCD, LEDs, buzzer</a:t>
            </a:r>
            <a:endParaRPr lang="en-US" sz="1200" dirty="0"/>
          </a:p>
        </p:txBody>
      </p:sp>
      <p:sp>
        <p:nvSpPr>
          <p:cNvPr id="64" name="SOFTWARE circle"/>
          <p:cNvSpPr/>
          <p:nvPr/>
        </p:nvSpPr>
        <p:spPr>
          <a:xfrm>
            <a:off x="6510528" y="4078224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5" name="SOFTWARE icon" descr="SOFTW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4174236"/>
            <a:ext cx="192024" cy="192024"/>
          </a:xfrm>
          <a:prstGeom prst="rect">
            <a:avLst/>
          </a:prstGeom>
        </p:spPr>
      </p:pic>
      <p:sp>
        <p:nvSpPr>
          <p:cNvPr id="66" name="Stack text 5"/>
          <p:cNvSpPr txBox="1"/>
          <p:nvPr/>
        </p:nvSpPr>
        <p:spPr>
          <a:xfrm>
            <a:off x="6995160" y="400507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SOFTWARE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Arduino C++ firmware, Verilog in Vivado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7740"/>
            <a:ext cx="4114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828800" y="137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FEASIBILITY &amp; VIABILITY</a:t>
            </a:r>
            <a:endParaRPr lang="en-US" sz="2400" dirty="0"/>
          </a:p>
        </p:txBody>
      </p:sp>
      <p:sp>
        <p:nvSpPr>
          <p:cNvPr id="3" name="Column header 1"/>
          <p:cNvSpPr/>
          <p:nvPr/>
        </p:nvSpPr>
        <p:spPr>
          <a:xfrm>
            <a:off x="320040" y="1005840"/>
            <a:ext cx="274320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olumn header text 1"/>
          <p:cNvSpPr txBox="1"/>
          <p:nvPr/>
        </p:nvSpPr>
        <p:spPr>
          <a:xfrm>
            <a:off x="457200" y="1005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DEPLOYMENT FEASIBILITY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Why it can be built</a:t>
            </a:r>
            <a:endParaRPr lang="en-US" sz="1300" dirty="0"/>
          </a:p>
        </p:txBody>
      </p:sp>
      <p:sp>
        <p:nvSpPr>
          <p:cNvPr id="5" name="Feas card 1-1"/>
          <p:cNvSpPr/>
          <p:nvPr/>
        </p:nvSpPr>
        <p:spPr>
          <a:xfrm>
            <a:off x="320040" y="1691640"/>
            <a:ext cx="2743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LOW-COST BUILD circle"/>
          <p:cNvSpPr/>
          <p:nvPr/>
        </p:nvSpPr>
        <p:spPr>
          <a:xfrm>
            <a:off x="429768" y="1828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LOW-COST BUILD icon" descr="LOW-COST BU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943100"/>
            <a:ext cx="228600" cy="228600"/>
          </a:xfrm>
          <a:prstGeom prst="rect">
            <a:avLst/>
          </a:prstGeom>
        </p:spPr>
      </p:pic>
      <p:sp>
        <p:nvSpPr>
          <p:cNvPr id="8" name="Feas text 1-1"/>
          <p:cNvSpPr txBox="1"/>
          <p:nvPr/>
        </p:nvSpPr>
        <p:spPr>
          <a:xfrm>
            <a:off x="978408" y="17373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LOW-COST BUILD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Off-the-shelf ESP32, sensors and relay; the Verilog logic can later move to a CPLD or ASIC.</a:t>
            </a:r>
            <a:endParaRPr lang="en-US" sz="1200" dirty="0"/>
          </a:p>
        </p:txBody>
      </p:sp>
      <p:sp>
        <p:nvSpPr>
          <p:cNvPr id="9" name="Feas card 1-2"/>
          <p:cNvSpPr/>
          <p:nvPr/>
        </p:nvSpPr>
        <p:spPr>
          <a:xfrm>
            <a:off x="320040" y="2926080"/>
            <a:ext cx="2743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AFE TO DEMONSTRATE circle"/>
          <p:cNvSpPr/>
          <p:nvPr/>
        </p:nvSpPr>
        <p:spPr>
          <a:xfrm>
            <a:off x="429768" y="30632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AFE TO DEMONSTRATE icon" descr="SAFE TO DEMONSTR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3177540"/>
            <a:ext cx="228600" cy="228600"/>
          </a:xfrm>
          <a:prstGeom prst="rect">
            <a:avLst/>
          </a:prstGeom>
        </p:spPr>
      </p:pic>
      <p:sp>
        <p:nvSpPr>
          <p:cNvPr id="12" name="Feas text 1-2"/>
          <p:cNvSpPr txBox="1"/>
          <p:nvPr/>
        </p:nvSpPr>
        <p:spPr>
          <a:xfrm>
            <a:off x="978408" y="29718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SAFE TO DEMONSTRATE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Potentiometers simulate faults on a dummy load, so no real battery is stressed.</a:t>
            </a:r>
            <a:endParaRPr lang="en-US" sz="1200" dirty="0"/>
          </a:p>
        </p:txBody>
      </p:sp>
      <p:sp>
        <p:nvSpPr>
          <p:cNvPr id="13" name="Column header 2"/>
          <p:cNvSpPr/>
          <p:nvPr/>
        </p:nvSpPr>
        <p:spPr>
          <a:xfrm>
            <a:off x="3200400" y="1005840"/>
            <a:ext cx="274320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Column header text 2"/>
          <p:cNvSpPr txBox="1"/>
          <p:nvPr/>
        </p:nvSpPr>
        <p:spPr>
          <a:xfrm>
            <a:off x="3337560" y="1005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REAL WORLD ISSUES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What could go wrong</a:t>
            </a:r>
            <a:endParaRPr lang="en-US" sz="1300" dirty="0"/>
          </a:p>
        </p:txBody>
      </p:sp>
      <p:sp>
        <p:nvSpPr>
          <p:cNvPr id="15" name="Feas card 2-1"/>
          <p:cNvSpPr/>
          <p:nvPr/>
        </p:nvSpPr>
        <p:spPr>
          <a:xfrm>
            <a:off x="3200400" y="1691640"/>
            <a:ext cx="2743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ENSOR DRIFT OR FAILURE circle"/>
          <p:cNvSpPr/>
          <p:nvPr/>
        </p:nvSpPr>
        <p:spPr>
          <a:xfrm>
            <a:off x="3310128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ENSOR DRIFT OR FAILURE icon" descr="SENSOR DRIFT OR FAIL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28" y="1943100"/>
            <a:ext cx="228600" cy="228600"/>
          </a:xfrm>
          <a:prstGeom prst="rect">
            <a:avLst/>
          </a:prstGeom>
        </p:spPr>
      </p:pic>
      <p:sp>
        <p:nvSpPr>
          <p:cNvPr id="18" name="Feas text 2-1"/>
          <p:cNvSpPr txBox="1"/>
          <p:nvPr/>
        </p:nvSpPr>
        <p:spPr>
          <a:xfrm>
            <a:off x="3858768" y="17373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SENSOR DRIFT OR FAILURE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disconnected or inaccurate sensor can hide a real hazard.</a:t>
            </a:r>
            <a:endParaRPr lang="en-US" sz="1200" dirty="0"/>
          </a:p>
        </p:txBody>
      </p:sp>
      <p:sp>
        <p:nvSpPr>
          <p:cNvPr id="19" name="Feas card 2-2"/>
          <p:cNvSpPr/>
          <p:nvPr/>
        </p:nvSpPr>
        <p:spPr>
          <a:xfrm>
            <a:off x="3200400" y="2926080"/>
            <a:ext cx="2743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LINK OR POWER LOSS circle"/>
          <p:cNvSpPr/>
          <p:nvPr/>
        </p:nvSpPr>
        <p:spPr>
          <a:xfrm>
            <a:off x="3310128" y="30632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LINK OR POWER LOSS icon" descr="LINK OR POWER LO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428" y="3177540"/>
            <a:ext cx="228600" cy="228600"/>
          </a:xfrm>
          <a:prstGeom prst="rect">
            <a:avLst/>
          </a:prstGeom>
        </p:spPr>
      </p:pic>
      <p:sp>
        <p:nvSpPr>
          <p:cNvPr id="22" name="Feas text 2-2"/>
          <p:cNvSpPr txBox="1"/>
          <p:nvPr/>
        </p:nvSpPr>
        <p:spPr>
          <a:xfrm>
            <a:off x="3858768" y="29718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LINK OR POWER LOSS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Lost data or supply must never leave charging switched on.</a:t>
            </a:r>
            <a:endParaRPr lang="en-US" sz="1200" dirty="0"/>
          </a:p>
        </p:txBody>
      </p:sp>
      <p:sp>
        <p:nvSpPr>
          <p:cNvPr id="23" name="Column header 3"/>
          <p:cNvSpPr/>
          <p:nvPr/>
        </p:nvSpPr>
        <p:spPr>
          <a:xfrm>
            <a:off x="6080760" y="1005840"/>
            <a:ext cx="27432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Column header text 3"/>
          <p:cNvSpPr txBox="1"/>
          <p:nvPr/>
        </p:nvSpPr>
        <p:spPr>
          <a:xfrm>
            <a:off x="6217920" y="1005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ENGINEERING SAFEGUARDS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How it stays safe</a:t>
            </a:r>
            <a:endParaRPr lang="en-US" sz="1300" dirty="0"/>
          </a:p>
        </p:txBody>
      </p:sp>
      <p:sp>
        <p:nvSpPr>
          <p:cNvPr id="25" name="Feas card 3-1"/>
          <p:cNvSpPr/>
          <p:nvPr/>
        </p:nvSpPr>
        <p:spPr>
          <a:xfrm>
            <a:off x="6080760" y="1691640"/>
            <a:ext cx="2743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FAIL-SAFE RELAY circle"/>
          <p:cNvSpPr/>
          <p:nvPr/>
        </p:nvSpPr>
        <p:spPr>
          <a:xfrm>
            <a:off x="6190488" y="18288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7" name="FAIL-SAFE RELAY icon" descr="FAIL-SAFE RELA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88" y="1943100"/>
            <a:ext cx="228600" cy="228600"/>
          </a:xfrm>
          <a:prstGeom prst="rect">
            <a:avLst/>
          </a:prstGeom>
        </p:spPr>
      </p:pic>
      <p:sp>
        <p:nvSpPr>
          <p:cNvPr id="28" name="Feas text 3-1"/>
          <p:cNvSpPr txBox="1"/>
          <p:nvPr/>
        </p:nvSpPr>
        <p:spPr>
          <a:xfrm>
            <a:off x="6739128" y="17373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FAIL-SAFE RELAY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Normally-Open contacts open when power or the control signal is lost.</a:t>
            </a:r>
            <a:endParaRPr lang="en-US" sz="1200" dirty="0"/>
          </a:p>
        </p:txBody>
      </p:sp>
      <p:sp>
        <p:nvSpPr>
          <p:cNvPr id="29" name="Feas card 3-2"/>
          <p:cNvSpPr/>
          <p:nvPr/>
        </p:nvSpPr>
        <p:spPr>
          <a:xfrm>
            <a:off x="6080760" y="2926080"/>
            <a:ext cx="2743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LIMITS PLUS TRENDS circle"/>
          <p:cNvSpPr/>
          <p:nvPr/>
        </p:nvSpPr>
        <p:spPr>
          <a:xfrm>
            <a:off x="6190488" y="30632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1" name="LIMITS PLUS TRENDS icon" descr="LIMITS PLUS TREND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788" y="3177540"/>
            <a:ext cx="228600" cy="228600"/>
          </a:xfrm>
          <a:prstGeom prst="rect">
            <a:avLst/>
          </a:prstGeom>
        </p:spPr>
      </p:pic>
      <p:sp>
        <p:nvSpPr>
          <p:cNvPr id="32" name="Feas text 3-2"/>
          <p:cNvSpPr txBox="1"/>
          <p:nvPr/>
        </p:nvSpPr>
        <p:spPr>
          <a:xfrm>
            <a:off x="6739128" y="29718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LIMITS PLUS TRENDS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Fixed limits and rate-of-change checks; watchdog and latch are planned.</a:t>
            </a:r>
            <a:endParaRPr lang="en-US" sz="1200" dirty="0"/>
          </a:p>
        </p:txBody>
      </p:sp>
      <p:sp>
        <p:nvSpPr>
          <p:cNvPr id="33" name="Feasibility banner"/>
          <p:cNvSpPr/>
          <p:nvPr/>
        </p:nvSpPr>
        <p:spPr>
          <a:xfrm>
            <a:off x="320040" y="4206240"/>
            <a:ext cx="8503920" cy="457200"/>
          </a:xfrm>
          <a:prstGeom prst="roundRect">
            <a:avLst>
              <a:gd name="adj" fmla="val 16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Feasibility banner text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Safe Charging Chip adds an independent, hardware-level cut-off to phone charging. Current status: ESP32 stage verified; FPGA integration next.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7740"/>
            <a:ext cx="4114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828800" y="137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IMPACT AND BENEFITS</a:t>
            </a:r>
            <a:endParaRPr lang="en-US" sz="2400" dirty="0"/>
          </a:p>
        </p:txBody>
      </p:sp>
      <p:sp>
        <p:nvSpPr>
          <p:cNvPr id="3" name="Impact header"/>
          <p:cNvSpPr/>
          <p:nvPr/>
        </p:nvSpPr>
        <p:spPr>
          <a:xfrm>
            <a:off x="320040" y="1005840"/>
            <a:ext cx="4114800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mpact header text"/>
          <p:cNvSpPr txBox="1"/>
          <p:nvPr/>
        </p:nvSpPr>
        <p:spPr>
          <a:xfrm>
            <a:off x="32004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IMPACT ON AUDIENCE</a:t>
            </a:r>
            <a:endParaRPr lang="en-US" sz="1400" dirty="0"/>
          </a:p>
        </p:txBody>
      </p:sp>
      <p:sp>
        <p:nvSpPr>
          <p:cNvPr id="5" name="Benefit header"/>
          <p:cNvSpPr/>
          <p:nvPr/>
        </p:nvSpPr>
        <p:spPr>
          <a:xfrm>
            <a:off x="4709160" y="1005840"/>
            <a:ext cx="4114800" cy="411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enefit header text"/>
          <p:cNvSpPr txBox="1"/>
          <p:nvPr/>
        </p:nvSpPr>
        <p:spPr>
          <a:xfrm>
            <a:off x="470916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BENEFITS OF THE SOLUTION</a:t>
            </a:r>
            <a:endParaRPr lang="en-US" sz="1400" dirty="0"/>
          </a:p>
        </p:txBody>
      </p:sp>
      <p:sp>
        <p:nvSpPr>
          <p:cNvPr id="7" name="PHONE USERS circle"/>
          <p:cNvSpPr/>
          <p:nvPr/>
        </p:nvSpPr>
        <p:spPr>
          <a:xfrm>
            <a:off x="320040" y="16642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PHONE USERS icon" descr="PHONE 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" y="1789938"/>
            <a:ext cx="251460" cy="251460"/>
          </a:xfrm>
          <a:prstGeom prst="rect">
            <a:avLst/>
          </a:prstGeom>
        </p:spPr>
      </p:pic>
      <p:sp>
        <p:nvSpPr>
          <p:cNvPr id="9" name="Impact text 1-1"/>
          <p:cNvSpPr txBox="1"/>
          <p:nvPr/>
        </p:nvSpPr>
        <p:spPr>
          <a:xfrm>
            <a:off x="960120" y="15544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PHONE USERS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Early warning → Time to unplug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Independent cut-off → Protection beyond the phone</a:t>
            </a:r>
            <a:endParaRPr lang="en-US" sz="1300" dirty="0"/>
          </a:p>
        </p:txBody>
      </p:sp>
      <p:sp>
        <p:nvSpPr>
          <p:cNvPr id="10" name="Row divider 1-1"/>
          <p:cNvSpPr/>
          <p:nvPr/>
        </p:nvSpPr>
        <p:spPr>
          <a:xfrm>
            <a:off x="320040" y="2359152"/>
            <a:ext cx="41148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" name="SAFETY circle"/>
          <p:cNvSpPr/>
          <p:nvPr/>
        </p:nvSpPr>
        <p:spPr>
          <a:xfrm>
            <a:off x="4709160" y="166420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AFETY icon" descr="SAFE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1789938"/>
            <a:ext cx="251460" cy="251460"/>
          </a:xfrm>
          <a:prstGeom prst="rect">
            <a:avLst/>
          </a:prstGeom>
        </p:spPr>
      </p:pic>
      <p:sp>
        <p:nvSpPr>
          <p:cNvPr id="13" name="Impact text 1-2"/>
          <p:cNvSpPr txBox="1"/>
          <p:nvPr/>
        </p:nvSpPr>
        <p:spPr>
          <a:xfrm>
            <a:off x="5349240" y="15544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SAFETY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Independent cut-off → No single point of failure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Fail-safe relay → Power loss opens the circuit</a:t>
            </a:r>
            <a:endParaRPr lang="en-US" sz="1300" dirty="0"/>
          </a:p>
        </p:txBody>
      </p:sp>
      <p:sp>
        <p:nvSpPr>
          <p:cNvPr id="14" name="Row divider 1-2"/>
          <p:cNvSpPr/>
          <p:nvPr/>
        </p:nvSpPr>
        <p:spPr>
          <a:xfrm>
            <a:off x="4709160" y="2359152"/>
            <a:ext cx="41148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5" name="CHARGER MAKERS &amp; OPERATORS circle"/>
          <p:cNvSpPr/>
          <p:nvPr/>
        </p:nvSpPr>
        <p:spPr>
          <a:xfrm>
            <a:off x="320040" y="253288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HARGER MAKERS &amp; OPERATORS icon" descr="CHARGER MAKERS &amp; OPERATO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" y="2658618"/>
            <a:ext cx="251460" cy="251460"/>
          </a:xfrm>
          <a:prstGeom prst="rect">
            <a:avLst/>
          </a:prstGeom>
        </p:spPr>
      </p:pic>
      <p:sp>
        <p:nvSpPr>
          <p:cNvPr id="17" name="Impact text 2-1"/>
          <p:cNvSpPr txBox="1"/>
          <p:nvPr/>
        </p:nvSpPr>
        <p:spPr>
          <a:xfrm>
            <a:off x="960120" y="242316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CHARGER MAKERS &amp; OPERATORS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Added safeguard → Higher user trust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Low-cost parts → Practical add-on</a:t>
            </a:r>
            <a:endParaRPr lang="en-US" sz="1300" dirty="0"/>
          </a:p>
        </p:txBody>
      </p:sp>
      <p:sp>
        <p:nvSpPr>
          <p:cNvPr id="18" name="Row divider 2-1"/>
          <p:cNvSpPr/>
          <p:nvPr/>
        </p:nvSpPr>
        <p:spPr>
          <a:xfrm>
            <a:off x="320040" y="3227832"/>
            <a:ext cx="41148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DETECTION circle"/>
          <p:cNvSpPr/>
          <p:nvPr/>
        </p:nvSpPr>
        <p:spPr>
          <a:xfrm>
            <a:off x="4709160" y="253288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DETECTION icon" descr="DETE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890" y="2658618"/>
            <a:ext cx="251460" cy="251460"/>
          </a:xfrm>
          <a:prstGeom prst="rect">
            <a:avLst/>
          </a:prstGeom>
        </p:spPr>
      </p:pic>
      <p:sp>
        <p:nvSpPr>
          <p:cNvPr id="21" name="Impact text 2-2"/>
          <p:cNvSpPr txBox="1"/>
          <p:nvPr/>
        </p:nvSpPr>
        <p:spPr>
          <a:xfrm>
            <a:off x="5349240" y="242316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DETECTION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Voltage + current + temperature → Fuller picture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Trend checks → Earlier warning</a:t>
            </a:r>
            <a:endParaRPr lang="en-US" sz="1300" dirty="0"/>
          </a:p>
        </p:txBody>
      </p:sp>
      <p:sp>
        <p:nvSpPr>
          <p:cNvPr id="22" name="Row divider 2-2"/>
          <p:cNvSpPr/>
          <p:nvPr/>
        </p:nvSpPr>
        <p:spPr>
          <a:xfrm>
            <a:off x="4709160" y="3227832"/>
            <a:ext cx="41148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3" name="HOMES &amp; PUBLIC SPACES circle"/>
          <p:cNvSpPr/>
          <p:nvPr/>
        </p:nvSpPr>
        <p:spPr>
          <a:xfrm>
            <a:off x="320040" y="34015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HOMES &amp; PUBLIC SPACES icon" descr="HOMES &amp; PUBLIC SPAC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" y="3527298"/>
            <a:ext cx="251460" cy="251460"/>
          </a:xfrm>
          <a:prstGeom prst="rect">
            <a:avLst/>
          </a:prstGeom>
        </p:spPr>
      </p:pic>
      <p:sp>
        <p:nvSpPr>
          <p:cNvPr id="25" name="Impact text 3-1"/>
          <p:cNvSpPr txBox="1"/>
          <p:nvPr/>
        </p:nvSpPr>
        <p:spPr>
          <a:xfrm>
            <a:off x="960120" y="32918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HOMES &amp; PUBLIC SPACES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Shared charging points → Safer use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Overnight charging → Lower fire risk</a:t>
            </a:r>
            <a:endParaRPr lang="en-US" sz="1300" dirty="0"/>
          </a:p>
        </p:txBody>
      </p:sp>
      <p:sp>
        <p:nvSpPr>
          <p:cNvPr id="26" name="Row divider 3-1"/>
          <p:cNvSpPr/>
          <p:nvPr/>
        </p:nvSpPr>
        <p:spPr>
          <a:xfrm>
            <a:off x="320040" y="4096512"/>
            <a:ext cx="41148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7" name="DESIGN circle"/>
          <p:cNvSpPr/>
          <p:nvPr/>
        </p:nvSpPr>
        <p:spPr>
          <a:xfrm>
            <a:off x="4709160" y="340156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DESIGN icon" descr="DESIG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890" y="3527298"/>
            <a:ext cx="251460" cy="251460"/>
          </a:xfrm>
          <a:prstGeom prst="rect">
            <a:avLst/>
          </a:prstGeom>
        </p:spPr>
      </p:pic>
      <p:sp>
        <p:nvSpPr>
          <p:cNvPr id="29" name="Impact text 3-2"/>
          <p:cNvSpPr txBox="1"/>
          <p:nvPr/>
        </p:nvSpPr>
        <p:spPr>
          <a:xfrm>
            <a:off x="5349240" y="32918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DESIGN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Verilog logic → Path to CPLD or ASIC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Modular stages → Test each on its own</a:t>
            </a:r>
            <a:endParaRPr lang="en-US" sz="1300" dirty="0"/>
          </a:p>
        </p:txBody>
      </p:sp>
      <p:sp>
        <p:nvSpPr>
          <p:cNvPr id="30" name="Row divider 3-2"/>
          <p:cNvSpPr/>
          <p:nvPr/>
        </p:nvSpPr>
        <p:spPr>
          <a:xfrm>
            <a:off x="4709160" y="4096512"/>
            <a:ext cx="41148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31" name="Tagline pill"/>
          <p:cNvSpPr/>
          <p:nvPr/>
        </p:nvSpPr>
        <p:spPr>
          <a:xfrm>
            <a:off x="2377440" y="4279392"/>
            <a:ext cx="4389120" cy="384048"/>
          </a:xfrm>
          <a:prstGeom prst="roundRect">
            <a:avLst>
              <a:gd name="adj" fmla="val 19048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agline text"/>
          <p:cNvSpPr txBox="1"/>
          <p:nvPr/>
        </p:nvSpPr>
        <p:spPr>
          <a:xfrm>
            <a:off x="2377440" y="42793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MONITOR • DECIDE • PROTECT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7740"/>
            <a:ext cx="4114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828800" y="137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RESEARCH &amp; REFERENCES</a:t>
            </a:r>
            <a:endParaRPr lang="en-US" sz="2400" dirty="0"/>
          </a:p>
        </p:txBody>
      </p:sp>
      <p:sp>
        <p:nvSpPr>
          <p:cNvPr id="3" name="Ref box 1"/>
          <p:cNvSpPr/>
          <p:nvPr/>
        </p:nvSpPr>
        <p:spPr>
          <a:xfrm>
            <a:off x="320040" y="1005840"/>
            <a:ext cx="411480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Ref box 1 title"/>
          <p:cNvSpPr txBox="1"/>
          <p:nvPr/>
        </p:nvSpPr>
        <p:spPr>
          <a:xfrm>
            <a:off x="50292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Project Documentation</a:t>
            </a:r>
            <a:endParaRPr lang="en-US" sz="1500" dirty="0"/>
          </a:p>
        </p:txBody>
      </p:sp>
      <p:sp>
        <p:nvSpPr>
          <p:cNvPr id="5" name="Ref box 1 list"/>
          <p:cNvSpPr txBox="1"/>
          <p:nvPr/>
        </p:nvSpPr>
        <p:spPr>
          <a:xfrm>
            <a:off x="502920" y="150876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LogicNova project synopsis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Safe Charging Chip for Mobile Phones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ESP32 adapter safety prototype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Wiring guide and pin map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Presentation and viva guide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Verified vs planned status</a:t>
            </a:r>
            <a:endParaRPr lang="en-US" sz="1300" dirty="0"/>
          </a:p>
        </p:txBody>
      </p:sp>
      <p:sp>
        <p:nvSpPr>
          <p:cNvPr id="6" name="Ref box 2"/>
          <p:cNvSpPr/>
          <p:nvPr/>
        </p:nvSpPr>
        <p:spPr>
          <a:xfrm>
            <a:off x="320040" y="3154680"/>
            <a:ext cx="41148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Ref box 2 title"/>
          <p:cNvSpPr txBox="1"/>
          <p:nvPr/>
        </p:nvSpPr>
        <p:spPr>
          <a:xfrm>
            <a:off x="502920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Platforms &amp; Tools</a:t>
            </a:r>
            <a:endParaRPr lang="en-US" sz="1500" dirty="0"/>
          </a:p>
        </p:txBody>
      </p:sp>
      <p:sp>
        <p:nvSpPr>
          <p:cNvPr id="8" name="Ref box 2 list"/>
          <p:cNvSpPr txBox="1"/>
          <p:nvPr/>
        </p:nvSpPr>
        <p:spPr>
          <a:xfrm>
            <a:off x="502920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PYNQ framework (PYNQ-Z2)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FPGA board and Jupyter overlay flow — pynq.io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AMD Vivado and Zynq-7000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Verilog design, simulation and bitstream — amd.com</a:t>
            </a:r>
            <a:endParaRPr lang="en-US" sz="1300" dirty="0"/>
          </a:p>
        </p:txBody>
      </p:sp>
      <p:sp>
        <p:nvSpPr>
          <p:cNvPr id="9" name="Ref box 3"/>
          <p:cNvSpPr/>
          <p:nvPr/>
        </p:nvSpPr>
        <p:spPr>
          <a:xfrm>
            <a:off x="4709160" y="1005840"/>
            <a:ext cx="4114800" cy="36576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Ref box 3 title"/>
          <p:cNvSpPr txBox="1"/>
          <p:nvPr/>
        </p:nvSpPr>
        <p:spPr>
          <a:xfrm>
            <a:off x="489204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Technical Components</a:t>
            </a:r>
            <a:endParaRPr lang="en-US" sz="1500" dirty="0"/>
          </a:p>
        </p:txBody>
      </p:sp>
      <p:sp>
        <p:nvSpPr>
          <p:cNvPr id="11" name="Ref box 3 list"/>
          <p:cNvSpPr txBox="1"/>
          <p:nvPr/>
        </p:nvSpPr>
        <p:spPr>
          <a:xfrm>
            <a:off x="4892040" y="1508760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Espressif Systems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ESP32 — Wi-Fi and Bluetooth MCU with 12-bit ADC — docs.espressif.com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Allegro MicroSystems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ACS712-5A Hall-effect current sensor — allegromicro.com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Analog Devices (Maxim)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DS18B20 1-Wire digital temperature sensor — analog.com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Low-voltage test rule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Isolated low-voltage DC and a dummy load only; never mains or a real phone battery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7740"/>
            <a:ext cx="4114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icNova SIH Style">
  <a:themeElements>
    <a:clrScheme name="LogicNova SIH Style">
      <a:dk1>
        <a:srgbClr val="1F2937"/>
      </a:dk1>
      <a:lt1>
        <a:srgbClr val="FFFFFF"/>
      </a:lt1>
      <a:dk2>
        <a:srgbClr val="14213D"/>
      </a:dk2>
      <a:lt2>
        <a:srgbClr val="EEF2F7"/>
      </a:lt2>
      <a:accent1>
        <a:srgbClr val="F59E0B"/>
      </a:accent1>
      <a:accent2>
        <a:srgbClr val="15803D"/>
      </a:accent2>
      <a:accent3>
        <a:srgbClr val="B91C1C"/>
      </a:accent3>
      <a:accent4>
        <a:srgbClr val="0F766E"/>
      </a:accent4>
      <a:accent5>
        <a:srgbClr val="6D28D9"/>
      </a:accent5>
      <a:accent6>
        <a:srgbClr val="64748B"/>
      </a:accent6>
      <a:hlink>
        <a:srgbClr val="0F766E"/>
      </a:hlink>
      <a:folHlink>
        <a:srgbClr val="6D28D9"/>
      </a:folHlink>
    </a:clrScheme>
    <a:fontScheme name="LogicNova SIH Sty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Charging Chip - LogicNova - Technovation 2k26</dc:title>
  <dc:subject>PptxGenJS Presentation</dc:subject>
  <dc:creator>LogicNova</dc:creator>
  <cp:lastModifiedBy>LogicNova</cp:lastModifiedBy>
  <cp:revision>1</cp:revision>
  <dcterms:created xsi:type="dcterms:W3CDTF">2026-10-08T05:48:56Z</dcterms:created>
  <dcterms:modified xsi:type="dcterms:W3CDTF">2026-10-08T05:48:56Z</dcterms:modified>
</cp:coreProperties>
</file>